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3.xml"/><Relationship Id="rId23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</c:v>
                </c:pt>
              </c:strCache>
            </c:strRef>
          </c:tx>
          <c:spPr>
            <a:solidFill>
              <a:srgbClr val="3D3C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C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Work Queue</c:v>
                  </c:pt>
                  <c:pt idx="1">
                    <c:v>Intake (Reg)</c:v>
                  </c:pt>
                  <c:pt idx="2">
                    <c:v>Eligibility</c:v>
                  </c:pt>
                  <c:pt idx="3">
                    <c:v>Sentinel Auth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80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QA</c:v>
                </c:pt>
              </c:strCache>
            </c:strRef>
          </c:tx>
          <c:spPr>
            <a:solidFill>
              <a:srgbClr val="D9F6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C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Work Queue</c:v>
                  </c:pt>
                  <c:pt idx="1">
                    <c:v>Intake (Reg)</c:v>
                  </c:pt>
                  <c:pt idx="2">
                    <c:v>Eligibility</c:v>
                  </c:pt>
                  <c:pt idx="3">
                    <c:v>Sentinel Auth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20</c:v>
                </c:pt>
                <c:pt idx="2">
                  <c:v>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D3C3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C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9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Internal: Patient Portal High Estimate.xlsx (Phase 1 tab) – completion and estimates
- Internal: Team update – Sentinel Integration authentication 100% Dev and QA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Internal: Requirement documents (Work Queue, Intake Form, Insurance Screening, Patient Account, Eligibility Summary)
- Internal: Patient Portal High Estimate.xlsx (Phase 1 tab)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Internal: Patient Portal High Estimate.xlsx (Phase 1 tab)
- Internal: Team update – Sentinel Integration authentication 100% Dev and QA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Internal: Patient Portal High Estimate.xlsx (Phase 1 tab)
- Internal: Team update – Sentinel Integration authentication 100% Dev and QA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Internal: Patient Portal High Estimate.xlsx (Phase 1 tab)
- Internal: Requirement documents (Eligibility / Intake / Work Queue)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Internal: Patient Portal High Estimate.xlsx (Phase 1 tab)
- Internal: Team update – Sentinel Integration authentication 100% Dev and QA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Internal: HCRViewScreenshots.docx (provided screenshots; Eligibility not included)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Internal: HCRViewScreenshots.docx (provided screenshots; Eligibility not included)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1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2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4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8-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32004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Patient Portal – HCR 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Phase 1 Release Readout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of: Feb 19,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0820095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9728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At-a-glance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25603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71600" y="27249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Dev Complete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90%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71600" y="3429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by est. effort (237)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25603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97680" y="27249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QA Complete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30%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297680" y="3429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QA not started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25603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23760" y="27249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Auth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100%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223760" y="3429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+ QA complete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7280" y="3886200"/>
            <a:ext cx="9997135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417320" y="4114800"/>
            <a:ext cx="9357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Highlights &amp; watch-outs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453128"/>
            <a:ext cx="9357055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Queue items in estimate tracker are complete in Dev and QA (100% / 100%).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Verification (Registration) is complete in Dev; QA in progress (~20%).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Screening is in development (~80% Dev); QA not started (screenshots not yet available).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integration for authentication is 100% complete in Dev and QA (team update).</a:t>
            </a:r>
            <a:endParaRPr lang="en-US" sz="1200" dirty="0"/>
          </a:p>
        </p:txBody>
      </p:sp>
      <p:pic>
        <p:nvPicPr>
          <p:cNvPr id="24" name="Picture 23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Readout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658368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960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Agenda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MVP Phase 1 scope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Progress dashboard (Dev &amp; QA)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Workstream readiness and gaps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Risks / dependencies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Next milestones to release</a:t>
            </a:r>
            <a:endParaRPr lang="en-US" sz="13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Appendix: UI screenshots (non-Eligibility)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960120"/>
            <a:ext cx="5105095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720840" y="1188720"/>
            <a:ext cx="4556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MVP Phase 1 scope (high-level)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1572768"/>
            <a:ext cx="455645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Queue: filtering, sorting, assignment, indicators</a:t>
            </a:r>
            <a:endParaRPr lang="en-US" sz="12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Verification (Registration): demographics, visit, insurance, verification</a:t>
            </a:r>
            <a:endParaRPr lang="en-US" sz="12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Screening: dynamic questions, determination, summary report, recommended programs</a:t>
            </a:r>
            <a:endParaRPr lang="en-US" sz="12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Authentication: Sentinel integration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3703320"/>
            <a:ext cx="455645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detailed requirement specs exist for Patient Account, Insurance Screening, Intake, Work Queue, and Eligibility; this readout focuses on release readiness from the estimate tracker plus UI evidence.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6537960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14" name="Picture 13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Progress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658368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9601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11247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Dev Complete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90%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tracked workstreams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9601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86200" y="11247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QA Complete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8620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30%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8620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in progress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9601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12280" y="11247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Queue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1228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+ QA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64040" y="9601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738360" y="11247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3836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80%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73836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(QA pending)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2331720"/>
            <a:ext cx="10820095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05840" y="256032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Dev vs QA completion by workstream</a:t>
            </a:r>
            <a:endParaRPr lang="en-US" sz="16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1097280" y="2926080"/>
          <a:ext cx="9997135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685800" y="598932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callout: Eligibility QA not started (screens still in development).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5800" y="6537960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28" name="Picture 27" descr="optum_wordmark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Workstream readiness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658368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960120"/>
            <a:ext cx="10820095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344168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728216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" y="2112264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2496312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26280" y="960120"/>
            <a:ext cx="0" cy="192024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669280" y="960120"/>
            <a:ext cx="0" cy="192024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812280" y="960120"/>
            <a:ext cx="0" cy="192024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46720" y="960120"/>
            <a:ext cx="0" cy="192024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85800" y="960120"/>
            <a:ext cx="10820095" cy="384048"/>
          </a:xfrm>
          <a:prstGeom prst="rect">
            <a:avLst/>
          </a:prstGeom>
          <a:solidFill>
            <a:srgbClr val="FAF8F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95528" y="1033272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36008" y="1033272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79008" y="1033272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22008" y="1033272"/>
            <a:ext cx="1014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56448" y="1033272"/>
            <a:ext cx="32397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/ next steps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" y="1417320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HCR Work Queue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1417320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79008" y="1417320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22008" y="1417320"/>
            <a:ext cx="1014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56448" y="1417320"/>
            <a:ext cx="32397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in estimate tracker complete; validate in integrated flow &amp; regression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" y="1801368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Verification (Registration)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36008" y="1801368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79008" y="1801368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22008" y="1801368"/>
            <a:ext cx="1014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in progress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56448" y="1801368"/>
            <a:ext cx="32397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QA, defect triage, and confirm data pre-population behaviors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5528" y="2185416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/ Eligibility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36008" y="2185416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79008" y="2185416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22008" y="2185416"/>
            <a:ext cx="1014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56448" y="2185416"/>
            <a:ext cx="32397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remaining dev, start QA, and finalize summary + recommended programs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" y="2569464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Authentication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36008" y="2569464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79008" y="2569464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22008" y="2569464"/>
            <a:ext cx="10149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56448" y="2569464"/>
            <a:ext cx="32397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environments and SSO edge cases during UAT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22008" y="1399032"/>
            <a:ext cx="1143000" cy="292608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7ABF8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922008" y="143560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22008" y="1783080"/>
            <a:ext cx="1143000" cy="292608"/>
          </a:xfrm>
          <a:prstGeom prst="roundRect">
            <a:avLst/>
          </a:prstGeom>
          <a:solidFill>
            <a:srgbClr val="FFF4CE"/>
          </a:solidFill>
          <a:ln w="12700">
            <a:solidFill>
              <a:srgbClr val="D6B65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922008" y="181965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22008" y="2167128"/>
            <a:ext cx="1143000" cy="292608"/>
          </a:xfrm>
          <a:prstGeom prst="roundRect">
            <a:avLst/>
          </a:prstGeom>
          <a:solidFill>
            <a:srgbClr val="FDE7E9"/>
          </a:solidFill>
          <a:ln w="12700">
            <a:solidFill>
              <a:srgbClr val="D48A9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922008" y="220370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1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22008" y="2551176"/>
            <a:ext cx="1143000" cy="292608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7ABF8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922008" y="258775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" y="324612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legend: Green = ready / minor items • Amber = QA in progress • Red = gating work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5800" y="3703320"/>
            <a:ext cx="10820095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005840" y="393192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What we need to ship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05840" y="4270248"/>
            <a:ext cx="10180015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Eligibility remaining dev + PACE integration validation (POE API).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and complete Eligibility QA; run end-to-end regression across Work Queue → Intake → Eligibility flows.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accessibility (unique titles, alt text, reading order) and security checks are satisfied.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5800" y="6537960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55" name="Picture 54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Risks, dependencies, and mitigations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658368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960120"/>
            <a:ext cx="1082009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18872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Top risks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27048"/>
            <a:ext cx="101800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section still in active development; QA has not started.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Integration (POE API) shows low Dev completion in tracker; could be gating for release readiness.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capacity / time for end-to-end regression across modules (including edge cases).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1082009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292608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Dependencies / inputs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264408"/>
            <a:ext cx="101800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 &amp; scenarios for dynamic screening questions and program recommendations.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on required environments and connectivity for POE API.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sign-off criteria (workflow + reporting expectations).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434840"/>
            <a:ext cx="10820095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05840" y="466344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Mitigation plan (near-term)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50017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Eligibility feature set for MVP; publish a QA-ready build and start test execution immediately.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daily defect triage; prioritize release blockers and integration issues first.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an end-to-end rehearsal: Sentinel auth → Work Queue actions → Intake verification → Eligibility flow.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6537960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17" name="Picture 16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64592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Milestones to MVP release (draft)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658368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960120"/>
            <a:ext cx="10820095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18872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Proposed sequence (replace with dates once confirmed)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1810512"/>
            <a:ext cx="201168" cy="201168"/>
          </a:xfrm>
          <a:prstGeom prst="ellipse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719072"/>
            <a:ext cx="8442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Eligibility dev complete + feature freeze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88575" y="1755648"/>
            <a:ext cx="1143000" cy="292608"/>
          </a:xfrm>
          <a:prstGeom prst="roundRect">
            <a:avLst/>
          </a:prstGeom>
          <a:solidFill>
            <a:srgbClr val="FFF4CE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88575" y="179222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51560" y="2377440"/>
            <a:ext cx="201168" cy="201168"/>
          </a:xfrm>
          <a:prstGeom prst="ellipse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286000"/>
            <a:ext cx="8442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Eligibility QA execution + defect closure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88575" y="2322576"/>
            <a:ext cx="1143000" cy="292608"/>
          </a:xfrm>
          <a:prstGeom prst="roundRect">
            <a:avLst/>
          </a:prstGeom>
          <a:solidFill>
            <a:srgbClr val="FDE7E9"/>
          </a:solidFill>
          <a:ln w="12700">
            <a:solidFill>
              <a:srgbClr val="D48A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88575" y="235915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1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51560" y="2944368"/>
            <a:ext cx="201168" cy="201168"/>
          </a:xfrm>
          <a:prstGeom prst="ellipse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2852928"/>
            <a:ext cx="8442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PACE (POE API) integration validation in QA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88575" y="2889504"/>
            <a:ext cx="1143000" cy="292608"/>
          </a:xfrm>
          <a:prstGeom prst="roundRect">
            <a:avLst/>
          </a:prstGeom>
          <a:solidFill>
            <a:srgbClr val="FDE7E9"/>
          </a:solidFill>
          <a:ln w="12700">
            <a:solidFill>
              <a:srgbClr val="D48A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88575" y="292608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1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51560" y="3511296"/>
            <a:ext cx="201168" cy="201168"/>
          </a:xfrm>
          <a:prstGeom prst="ellipse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3419856"/>
            <a:ext cx="8442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Intake QA completion + regression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088575" y="3456432"/>
            <a:ext cx="1143000" cy="292608"/>
          </a:xfrm>
          <a:prstGeom prst="roundRect">
            <a:avLst/>
          </a:prstGeom>
          <a:solidFill>
            <a:srgbClr val="FFF4CE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88575" y="349300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51560" y="4078224"/>
            <a:ext cx="201168" cy="201168"/>
          </a:xfrm>
          <a:prstGeom prst="ellipse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986784"/>
            <a:ext cx="8442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End-to-end integrated testing (all flows)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088575" y="4023360"/>
            <a:ext cx="1143000" cy="292608"/>
          </a:xfrm>
          <a:prstGeom prst="roundRect">
            <a:avLst/>
          </a:prstGeom>
          <a:solidFill>
            <a:srgbClr val="FFF4CE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88575" y="405993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51560" y="4645152"/>
            <a:ext cx="201168" cy="201168"/>
          </a:xfrm>
          <a:prstGeom prst="ellipse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4553712"/>
            <a:ext cx="8442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6) UAT sign-off + release readiness review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088575" y="4590288"/>
            <a:ext cx="1143000" cy="292608"/>
          </a:xfrm>
          <a:prstGeom prst="roundRect">
            <a:avLst/>
          </a:prstGeom>
          <a:solidFill>
            <a:srgbClr val="FFF4CE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88575" y="462686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51560" y="5212080"/>
            <a:ext cx="201168" cy="201168"/>
          </a:xfrm>
          <a:prstGeom prst="ellipse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5120640"/>
            <a:ext cx="8442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7) Deploy to Production (MVP Phase 1)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088575" y="5157216"/>
            <a:ext cx="1143000" cy="292608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88575" y="519379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05840" y="585216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dates/owners can be added once release target and QA/UAT windows are confirmed.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" y="6537960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39" name="Picture 38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64592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UI snapshots (non-Eligibility)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658368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960120"/>
            <a:ext cx="531860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pic>
        <p:nvPicPr>
          <p:cNvPr id="6" name="Image 0" descr="/mnt/data/hcr_screenshots_extracted/HCRViewScreenshot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033272"/>
            <a:ext cx="5172304" cy="24597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87288" y="960120"/>
            <a:ext cx="531860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pic>
        <p:nvPicPr>
          <p:cNvPr id="8" name="Image 1" descr="/mnt/data/hcr_screenshots_extracted/HCRViewScreenshot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440" y="1033272"/>
            <a:ext cx="5172304" cy="24597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85800" y="3749040"/>
            <a:ext cx="531860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2" descr="/mnt/data/hcr_screenshots_extracted/HCRViewScreenshot_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822192"/>
            <a:ext cx="5172304" cy="245973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187288" y="3749040"/>
            <a:ext cx="531860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pic>
        <p:nvPicPr>
          <p:cNvPr id="12" name="Image 3" descr="/mnt/data/hcr_screenshots_extracted/HCRViewScreenshot_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440" y="3822192"/>
            <a:ext cx="5172304" cy="245973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85800" y="6537960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pic>
        <p:nvPicPr>
          <p:cNvPr id="16" name="Picture 15" descr="optum_wordmark_foo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64592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D3C38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UI snapshots (continued)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658368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960120"/>
            <a:ext cx="3472586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pic>
        <p:nvPicPr>
          <p:cNvPr id="6" name="Image 0" descr="/mnt/data/hcr_screenshots_extracted/HCRViewScreenshot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033272"/>
            <a:ext cx="3326282" cy="52486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59554" y="960120"/>
            <a:ext cx="3472586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pic>
        <p:nvPicPr>
          <p:cNvPr id="8" name="Image 1" descr="/mnt/data/hcr_screenshots_extracted/HCRViewScreenshot_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706" y="1033272"/>
            <a:ext cx="3326282" cy="52486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33309" y="960120"/>
            <a:ext cx="3472586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2" descr="/mnt/data/hcr_screenshots_extracted/HCRViewScreenshot_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461" y="1033272"/>
            <a:ext cx="3326282" cy="52486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" y="635508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screenshots are not included yet (still in development).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85800" y="6537960"/>
            <a:ext cx="10820095" cy="0"/>
          </a:xfrm>
          <a:prstGeom prst="line">
            <a:avLst/>
          </a:prstGeom>
          <a:noFill/>
          <a:ln w="12700">
            <a:solidFill>
              <a:srgbClr val="D8D3C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pic>
        <p:nvPicPr>
          <p:cNvPr id="15" name="Picture 14" descr="optum_wordmark_foo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53565A"/>
                </a:solidFill>
                <a:latin typeface="Arial"/>
              </a:rPr>
              <a:t>HCR View – UI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3565A"/>
                </a:solidFill>
                <a:latin typeface="Arial"/>
              </a:rPr>
              <a:t>LANDSCAPE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475" y="1005840"/>
            <a:ext cx="6927050" cy="5063490"/>
          </a:xfrm>
          <a:prstGeom prst="rect">
            <a:avLst/>
          </a:prstGeom>
        </p:spPr>
      </p:pic>
      <p:pic>
        <p:nvPicPr>
          <p:cNvPr id="5" name="Picture 4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875520" y="320040"/>
            <a:ext cx="1828800" cy="457200"/>
          </a:xfrm>
          <a:prstGeom prst="round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LANDSCAPE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53565A"/>
                </a:solidFill>
                <a:latin typeface="Arial"/>
              </a:rPr>
              <a:t>HCR View – UI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3565A"/>
                </a:solidFill>
                <a:latin typeface="Arial"/>
              </a:rPr>
              <a:t>LANDSCAPE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351" y="1005840"/>
            <a:ext cx="7893298" cy="5063490"/>
          </a:xfrm>
          <a:prstGeom prst="rect">
            <a:avLst/>
          </a:prstGeom>
        </p:spPr>
      </p:pic>
      <p:pic>
        <p:nvPicPr>
          <p:cNvPr id="5" name="Picture 4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875520" y="320040"/>
            <a:ext cx="1828800" cy="457200"/>
          </a:xfrm>
          <a:prstGeom prst="round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LANDSCAPE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53565A"/>
                </a:solidFill>
                <a:latin typeface="Arial"/>
              </a:rPr>
              <a:t>HCR View – UI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3565A"/>
                </a:solidFill>
                <a:latin typeface="Arial"/>
              </a:rPr>
              <a:t>LANDSCAPE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767" y="1005840"/>
            <a:ext cx="6808465" cy="5063490"/>
          </a:xfrm>
          <a:prstGeom prst="rect">
            <a:avLst/>
          </a:prstGeom>
        </p:spPr>
      </p:pic>
      <p:pic>
        <p:nvPicPr>
          <p:cNvPr id="5" name="Picture 4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875520" y="320040"/>
            <a:ext cx="1828800" cy="457200"/>
          </a:xfrm>
          <a:prstGeom prst="round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LANDSCAPE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53565A"/>
                </a:solidFill>
                <a:latin typeface="Arial"/>
              </a:rPr>
              <a:t>HCR View – UI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3565A"/>
                </a:solidFill>
                <a:latin typeface="Arial"/>
              </a:rPr>
              <a:t>LANDSCAPE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737" y="1005840"/>
            <a:ext cx="6654526" cy="5063490"/>
          </a:xfrm>
          <a:prstGeom prst="rect">
            <a:avLst/>
          </a:prstGeom>
        </p:spPr>
      </p:pic>
      <p:pic>
        <p:nvPicPr>
          <p:cNvPr id="5" name="Picture 4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875520" y="320040"/>
            <a:ext cx="1828800" cy="457200"/>
          </a:xfrm>
          <a:prstGeom prst="round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LANDSCAPE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764"/>
                </a:solidFill>
                <a:latin typeface="Arial"/>
              </a:defRPr>
            </a:pPr>
            <a:r>
              <a:t>Feature completion (Dev / QA)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3D3C38"/>
                </a:solidFill>
                <a:latin typeface="Arial"/>
              </a:defRPr>
            </a:pPr>
            <a:r>
              <a:t>Feature 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0" y="1280160"/>
            <a:ext cx="1828800" cy="457200"/>
          </a:xfrm>
          <a:prstGeom prst="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Dev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1280160"/>
            <a:ext cx="1828800" cy="457200"/>
          </a:xfrm>
          <a:prstGeom prst="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QA 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7315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D3C38"/>
                </a:solidFill>
                <a:latin typeface="Arial"/>
              </a:defRPr>
            </a:pPr>
            <a:r>
              <a:t>Work Queue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73736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0" y="173736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7315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D3C38"/>
                </a:solidFill>
                <a:latin typeface="Arial"/>
              </a:defRPr>
            </a:pPr>
            <a:r>
              <a:t>Intake Verification (Registration)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24028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224028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D3C38"/>
                </a:solidFill>
                <a:latin typeface="Arial"/>
              </a:defRPr>
            </a:pPr>
            <a:r>
              <a:t>Eligibility Screening (dynamic + determination)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7432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79%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27432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7315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D3C38"/>
                </a:solidFill>
                <a:latin typeface="Arial"/>
              </a:defRPr>
            </a:pPr>
            <a:r>
              <a:t>PACE Integration (POE API)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24612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324612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49040"/>
            <a:ext cx="7315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D3C38"/>
                </a:solidFill>
                <a:latin typeface="Arial"/>
              </a:defRPr>
            </a:pPr>
            <a:r>
              <a:t>Sentinel authentication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74904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374904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D3C38"/>
                </a:solidFill>
                <a:latin typeface="Arial"/>
              </a:defRPr>
            </a:pPr>
            <a:r>
              <a:t>Notes: Eligibility UI screenshots excluded (in development). Sentinel integration complete in Dev and QA.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764"/>
                </a:solidFill>
                <a:latin typeface="Arial"/>
              </a:defRPr>
            </a:pPr>
            <a:r>
              <a:t>Feature completion (Dev / QA)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3D3C38"/>
                </a:solidFill>
                <a:latin typeface="Arial"/>
              </a:defRPr>
            </a:pPr>
            <a:r>
              <a:t>Feature 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0" y="1280160"/>
            <a:ext cx="1828800" cy="457200"/>
          </a:xfrm>
          <a:prstGeom prst="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Dev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1280160"/>
            <a:ext cx="1828800" cy="457200"/>
          </a:xfrm>
          <a:prstGeom prst="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QA 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7315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D3C38"/>
                </a:solidFill>
                <a:latin typeface="Arial"/>
              </a:defRPr>
            </a:pPr>
            <a:r>
              <a:t>Work Queue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73736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0" y="173736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7315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D3C38"/>
                </a:solidFill>
                <a:latin typeface="Arial"/>
              </a:defRPr>
            </a:pPr>
            <a:r>
              <a:t>Intake Verification (Registration)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24028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224028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D3C38"/>
                </a:solidFill>
                <a:latin typeface="Arial"/>
              </a:defRPr>
            </a:pPr>
            <a:r>
              <a:t>Eligibility Screening (dynamic + determination)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7432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79%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27432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7315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D3C38"/>
                </a:solidFill>
                <a:latin typeface="Arial"/>
              </a:defRPr>
            </a:pPr>
            <a:r>
              <a:t>PACE Integration (POE API)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24612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324612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49040"/>
            <a:ext cx="7315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3D3C38"/>
                </a:solidFill>
                <a:latin typeface="Arial"/>
              </a:defRPr>
            </a:pPr>
            <a:r>
              <a:t>Sentinel authentication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74904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374904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3C3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D3C38"/>
                </a:solidFill>
                <a:latin typeface="Arial"/>
              </a:defRPr>
            </a:pPr>
            <a:r>
              <a:t>Notes: Eligibility UI screenshots excluded (in development). Sentinel integration complete in Dev and QA.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764"/>
                </a:solidFill>
                <a:latin typeface="Arial"/>
              </a:defRPr>
            </a:pPr>
            <a:r>
              <a:t>MVP Phase 1 timeline (draft)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389120"/>
            <a:ext cx="2066544" cy="822960"/>
          </a:xfrm>
          <a:prstGeom prst="roundRect">
            <a:avLst/>
          </a:prstGeom>
          <a:solidFill>
            <a:srgbClr val="003764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80944" y="4389120"/>
            <a:ext cx="2066544" cy="822960"/>
          </a:xfrm>
          <a:prstGeom prst="roundRect">
            <a:avLst/>
          </a:prstGeom>
          <a:solidFill>
            <a:srgbClr val="00569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4389120"/>
            <a:ext cx="2066544" cy="822960"/>
          </a:xfrm>
          <a:prstGeom prst="roundRect">
            <a:avLst/>
          </a:prstGeom>
          <a:solidFill>
            <a:srgbClr val="3A7BB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14032" y="4389120"/>
            <a:ext cx="2066544" cy="822960"/>
          </a:xfrm>
          <a:prstGeom prst="roundRect">
            <a:avLst/>
          </a:prstGeom>
          <a:solidFill>
            <a:srgbClr val="78A0CD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0576" y="4389120"/>
            <a:ext cx="2066544" cy="822960"/>
          </a:xfrm>
          <a:prstGeom prst="roundRect">
            <a:avLst/>
          </a:prstGeom>
          <a:solidFill>
            <a:srgbClr val="A0B4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8" name="Oval 7"/>
          <p:cNvSpPr/>
          <p:nvPr/>
        </p:nvSpPr>
        <p:spPr>
          <a:xfrm>
            <a:off x="1874520" y="3886200"/>
            <a:ext cx="146304" cy="146304"/>
          </a:xfrm>
          <a:prstGeom prst="ellipse">
            <a:avLst/>
          </a:prstGeom>
          <a:solidFill>
            <a:srgbClr val="003764"/>
          </a:solidFill>
          <a:ln>
            <a:solidFill>
              <a:srgbClr val="00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aight Connector 8"/>
          <p:cNvSpPr/>
          <p:nvPr/>
        </p:nvSpPr>
        <p:spPr>
          <a:xfrm>
            <a:off x="1947672" y="4032504"/>
            <a:ext cx="1947672" cy="4389120"/>
          </a:xfrm>
          <a:prstGeom prst="lineInv">
            <a:avLst/>
          </a:prstGeom>
          <a:ln>
            <a:solidFill>
              <a:srgbClr val="0037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Dev complete</a:t>
            </a:r>
          </a:p>
        </p:txBody>
      </p:sp>
      <p:sp>
        <p:nvSpPr>
          <p:cNvPr id="11" name="Oval 10"/>
          <p:cNvSpPr/>
          <p:nvPr/>
        </p:nvSpPr>
        <p:spPr>
          <a:xfrm>
            <a:off x="3941064" y="3886200"/>
            <a:ext cx="146304" cy="146304"/>
          </a:xfrm>
          <a:prstGeom prst="ellipse">
            <a:avLst/>
          </a:prstGeom>
          <a:solidFill>
            <a:srgbClr val="003764"/>
          </a:solidFill>
          <a:ln>
            <a:solidFill>
              <a:srgbClr val="00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4014216" y="4032504"/>
            <a:ext cx="4014216" cy="4389120"/>
          </a:xfrm>
          <a:prstGeom prst="lineInv">
            <a:avLst/>
          </a:prstGeom>
          <a:ln>
            <a:solidFill>
              <a:srgbClr val="0037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8376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QA complete</a:t>
            </a:r>
          </a:p>
        </p:txBody>
      </p:sp>
      <p:sp>
        <p:nvSpPr>
          <p:cNvPr id="14" name="Oval 13"/>
          <p:cNvSpPr/>
          <p:nvPr/>
        </p:nvSpPr>
        <p:spPr>
          <a:xfrm>
            <a:off x="6007608" y="3886200"/>
            <a:ext cx="146304" cy="146304"/>
          </a:xfrm>
          <a:prstGeom prst="ellipse">
            <a:avLst/>
          </a:prstGeom>
          <a:solidFill>
            <a:srgbClr val="003764"/>
          </a:solidFill>
          <a:ln>
            <a:solidFill>
              <a:srgbClr val="00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6080760" y="4032504"/>
            <a:ext cx="6080760" cy="4389120"/>
          </a:xfrm>
          <a:prstGeom prst="lineInv">
            <a:avLst/>
          </a:prstGeom>
          <a:ln>
            <a:solidFill>
              <a:srgbClr val="0037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UAT / business validation</a:t>
            </a:r>
          </a:p>
        </p:txBody>
      </p:sp>
      <p:sp>
        <p:nvSpPr>
          <p:cNvPr id="17" name="Oval 16"/>
          <p:cNvSpPr/>
          <p:nvPr/>
        </p:nvSpPr>
        <p:spPr>
          <a:xfrm>
            <a:off x="8074152" y="3886200"/>
            <a:ext cx="146304" cy="146304"/>
          </a:xfrm>
          <a:prstGeom prst="ellipse">
            <a:avLst/>
          </a:prstGeom>
          <a:solidFill>
            <a:srgbClr val="003764"/>
          </a:solidFill>
          <a:ln>
            <a:solidFill>
              <a:srgbClr val="00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aight Connector 17"/>
          <p:cNvSpPr/>
          <p:nvPr/>
        </p:nvSpPr>
        <p:spPr>
          <a:xfrm>
            <a:off x="8147304" y="4032504"/>
            <a:ext cx="8147304" cy="4389120"/>
          </a:xfrm>
          <a:prstGeom prst="lineInv">
            <a:avLst/>
          </a:prstGeom>
          <a:ln>
            <a:solidFill>
              <a:srgbClr val="0037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1464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Release readiness</a:t>
            </a:r>
          </a:p>
        </p:txBody>
      </p:sp>
      <p:sp>
        <p:nvSpPr>
          <p:cNvPr id="20" name="Oval 19"/>
          <p:cNvSpPr/>
          <p:nvPr/>
        </p:nvSpPr>
        <p:spPr>
          <a:xfrm>
            <a:off x="10140696" y="3886200"/>
            <a:ext cx="146304" cy="146304"/>
          </a:xfrm>
          <a:prstGeom prst="ellipse">
            <a:avLst/>
          </a:prstGeom>
          <a:solidFill>
            <a:srgbClr val="003764"/>
          </a:solidFill>
          <a:ln>
            <a:solidFill>
              <a:srgbClr val="00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10213848" y="4032504"/>
            <a:ext cx="10213848" cy="4389120"/>
          </a:xfrm>
          <a:prstGeom prst="lineInv">
            <a:avLst/>
          </a:prstGeom>
          <a:ln>
            <a:solidFill>
              <a:srgbClr val="0037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8008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Go-live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764"/>
                </a:solidFill>
                <a:latin typeface="Arial"/>
              </a:defRPr>
            </a:pPr>
            <a:r>
              <a:t>MVP Phase 1 timeline (draft)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389120"/>
            <a:ext cx="2066544" cy="822960"/>
          </a:xfrm>
          <a:prstGeom prst="roundRect">
            <a:avLst/>
          </a:prstGeom>
          <a:solidFill>
            <a:srgbClr val="003764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80944" y="4389120"/>
            <a:ext cx="2066544" cy="822960"/>
          </a:xfrm>
          <a:prstGeom prst="roundRect">
            <a:avLst/>
          </a:prstGeom>
          <a:solidFill>
            <a:srgbClr val="00569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4389120"/>
            <a:ext cx="2066544" cy="822960"/>
          </a:xfrm>
          <a:prstGeom prst="roundRect">
            <a:avLst/>
          </a:prstGeom>
          <a:solidFill>
            <a:srgbClr val="3A7BB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14032" y="4389120"/>
            <a:ext cx="2066544" cy="822960"/>
          </a:xfrm>
          <a:prstGeom prst="roundRect">
            <a:avLst/>
          </a:prstGeom>
          <a:solidFill>
            <a:srgbClr val="78A0CD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0576" y="4389120"/>
            <a:ext cx="2066544" cy="822960"/>
          </a:xfrm>
          <a:prstGeom prst="roundRect">
            <a:avLst/>
          </a:prstGeom>
          <a:solidFill>
            <a:srgbClr val="A0B4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8" name="Oval 7"/>
          <p:cNvSpPr/>
          <p:nvPr/>
        </p:nvSpPr>
        <p:spPr>
          <a:xfrm>
            <a:off x="1874520" y="3886200"/>
            <a:ext cx="146304" cy="146304"/>
          </a:xfrm>
          <a:prstGeom prst="ellipse">
            <a:avLst/>
          </a:prstGeom>
          <a:solidFill>
            <a:srgbClr val="003764"/>
          </a:solidFill>
          <a:ln>
            <a:solidFill>
              <a:srgbClr val="00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aight Connector 8"/>
          <p:cNvSpPr/>
          <p:nvPr/>
        </p:nvSpPr>
        <p:spPr>
          <a:xfrm>
            <a:off x="1947672" y="4032504"/>
            <a:ext cx="1947672" cy="4389120"/>
          </a:xfrm>
          <a:prstGeom prst="lineInv">
            <a:avLst/>
          </a:prstGeom>
          <a:ln>
            <a:solidFill>
              <a:srgbClr val="0037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Dev complete</a:t>
            </a:r>
          </a:p>
        </p:txBody>
      </p:sp>
      <p:sp>
        <p:nvSpPr>
          <p:cNvPr id="11" name="Oval 10"/>
          <p:cNvSpPr/>
          <p:nvPr/>
        </p:nvSpPr>
        <p:spPr>
          <a:xfrm>
            <a:off x="3941064" y="3886200"/>
            <a:ext cx="146304" cy="146304"/>
          </a:xfrm>
          <a:prstGeom prst="ellipse">
            <a:avLst/>
          </a:prstGeom>
          <a:solidFill>
            <a:srgbClr val="003764"/>
          </a:solidFill>
          <a:ln>
            <a:solidFill>
              <a:srgbClr val="00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4014216" y="4032504"/>
            <a:ext cx="4014216" cy="4389120"/>
          </a:xfrm>
          <a:prstGeom prst="lineInv">
            <a:avLst/>
          </a:prstGeom>
          <a:ln>
            <a:solidFill>
              <a:srgbClr val="0037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8376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QA complete</a:t>
            </a:r>
          </a:p>
        </p:txBody>
      </p:sp>
      <p:sp>
        <p:nvSpPr>
          <p:cNvPr id="14" name="Oval 13"/>
          <p:cNvSpPr/>
          <p:nvPr/>
        </p:nvSpPr>
        <p:spPr>
          <a:xfrm>
            <a:off x="6007608" y="3886200"/>
            <a:ext cx="146304" cy="146304"/>
          </a:xfrm>
          <a:prstGeom prst="ellipse">
            <a:avLst/>
          </a:prstGeom>
          <a:solidFill>
            <a:srgbClr val="003764"/>
          </a:solidFill>
          <a:ln>
            <a:solidFill>
              <a:srgbClr val="00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6080760" y="4032504"/>
            <a:ext cx="6080760" cy="4389120"/>
          </a:xfrm>
          <a:prstGeom prst="lineInv">
            <a:avLst/>
          </a:prstGeom>
          <a:ln>
            <a:solidFill>
              <a:srgbClr val="0037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UAT / business validation</a:t>
            </a:r>
          </a:p>
        </p:txBody>
      </p:sp>
      <p:sp>
        <p:nvSpPr>
          <p:cNvPr id="17" name="Oval 16"/>
          <p:cNvSpPr/>
          <p:nvPr/>
        </p:nvSpPr>
        <p:spPr>
          <a:xfrm>
            <a:off x="8074152" y="3886200"/>
            <a:ext cx="146304" cy="146304"/>
          </a:xfrm>
          <a:prstGeom prst="ellipse">
            <a:avLst/>
          </a:prstGeom>
          <a:solidFill>
            <a:srgbClr val="003764"/>
          </a:solidFill>
          <a:ln>
            <a:solidFill>
              <a:srgbClr val="00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aight Connector 17"/>
          <p:cNvSpPr/>
          <p:nvPr/>
        </p:nvSpPr>
        <p:spPr>
          <a:xfrm>
            <a:off x="8147304" y="4032504"/>
            <a:ext cx="8147304" cy="4389120"/>
          </a:xfrm>
          <a:prstGeom prst="lineInv">
            <a:avLst/>
          </a:prstGeom>
          <a:ln>
            <a:solidFill>
              <a:srgbClr val="0037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1464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Release readiness</a:t>
            </a:r>
          </a:p>
        </p:txBody>
      </p:sp>
      <p:sp>
        <p:nvSpPr>
          <p:cNvPr id="20" name="Oval 19"/>
          <p:cNvSpPr/>
          <p:nvPr/>
        </p:nvSpPr>
        <p:spPr>
          <a:xfrm>
            <a:off x="10140696" y="3886200"/>
            <a:ext cx="146304" cy="146304"/>
          </a:xfrm>
          <a:prstGeom prst="ellipse">
            <a:avLst/>
          </a:prstGeom>
          <a:solidFill>
            <a:srgbClr val="003764"/>
          </a:solidFill>
          <a:ln>
            <a:solidFill>
              <a:srgbClr val="00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10213848" y="4032504"/>
            <a:ext cx="10213848" cy="4389120"/>
          </a:xfrm>
          <a:prstGeom prst="lineInv">
            <a:avLst/>
          </a:prstGeom>
          <a:ln>
            <a:solidFill>
              <a:srgbClr val="0037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8008" y="246888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Go-live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53565A"/>
                </a:solidFill>
                <a:latin typeface="Arial"/>
              </a:rPr>
              <a:t>HCR View – UI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3565A"/>
                </a:solidFill>
                <a:latin typeface="Arial"/>
              </a:rPr>
              <a:t>LANDSCAPE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581" y="1005840"/>
            <a:ext cx="6822838" cy="5063490"/>
          </a:xfrm>
          <a:prstGeom prst="rect">
            <a:avLst/>
          </a:prstGeom>
        </p:spPr>
      </p:pic>
      <p:pic>
        <p:nvPicPr>
          <p:cNvPr id="5" name="Picture 4" descr="optum_wordmark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875520" y="320040"/>
            <a:ext cx="1828800" cy="457200"/>
          </a:xfrm>
          <a:prstGeom prst="roundRect">
            <a:avLst/>
          </a:prstGeom>
          <a:solidFill>
            <a:srgbClr val="FAF8F2"/>
          </a:solidFill>
          <a:ln>
            <a:solidFill>
              <a:srgbClr val="3D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D3C38"/>
                </a:solidFill>
                <a:latin typeface="Arial"/>
              </a:defRPr>
            </a:pPr>
            <a:r>
              <a:t>LANDSCAPE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 P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2026-02-19T20:14:38Z</dcterms:created>
  <dcterms:modified xsi:type="dcterms:W3CDTF">2026-02-19T20:14:38Z</dcterms:modified>
</cp:coreProperties>
</file>