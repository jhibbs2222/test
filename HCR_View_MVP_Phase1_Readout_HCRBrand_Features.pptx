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764"/>
          </a:solidFill>
          <a:ln w="12700">
            <a:solidFill>
              <a:srgbClr val="0037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8288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– HCR 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Phase 1 Release Readout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of: Feb 19,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500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Dev Complete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tracked workstreams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14884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35000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QA Complete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2606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00600" y="32461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 progress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58200" y="214884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3500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2606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732520" y="32461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QA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6355080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 preserved in landscape appendix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Readout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17320"/>
            <a:ext cx="11002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 (Dev &amp; QA)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feature / functionality status (from estimate sheet)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readiness and gaps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/ dependencies</a:t>
            </a:r>
            <a:endParaRPr lang="en-US" sz="16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UI evidence (landscape screenshots)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vs QA completion by workstream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Dev Complete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tracked workstreams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618488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QA Complete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8745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00600" y="2560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 progress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58200" y="1417320"/>
            <a:ext cx="3154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161848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Auth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32520" y="18745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732520" y="25603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+ QA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108960"/>
            <a:ext cx="11002975" cy="3291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9184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notes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70332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 items are complete in Dev and QA.</a:t>
            </a:r>
            <a:endParaRPr lang="en-US" sz="1300" dirty="0"/>
          </a:p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is complete in Dev; QA in progress (~20%).</a:t>
            </a:r>
            <a:endParaRPr lang="en-US" sz="1300" dirty="0"/>
          </a:p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 is in development (~80% Dev); QA not started.</a:t>
            </a:r>
            <a:endParaRPr lang="en-US" sz="1300" dirty="0"/>
          </a:p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Integration (POE API) is early (low completion in sheet).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Features – HCR Workqueue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Features/functionality from Patient Portal High Estimate (Phase 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5321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6400800" cy="640080"/>
          </a:xfrm>
          <a:prstGeom prst="rect">
            <a:avLst/>
          </a:prstGeom>
          <a:solidFill>
            <a:srgbClr val="E6F4EA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1325880"/>
            <a:ext cx="2377440" cy="347472"/>
          </a:xfrm>
          <a:prstGeom prst="rect">
            <a:avLst/>
          </a:prstGeom>
          <a:solidFill>
            <a:srgbClr val="003764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1325880"/>
            <a:ext cx="2377440" cy="347472"/>
          </a:xfrm>
          <a:prstGeom prst="rect">
            <a:avLst/>
          </a:prstGeom>
          <a:solidFill>
            <a:srgbClr val="003764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1673352"/>
            <a:ext cx="237744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2600" y="1673352"/>
            <a:ext cx="237744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1732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FUNCTIONALITY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4173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138988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72600" y="138988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7260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8764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6508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8012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5756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9144" cy="5321808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325880"/>
            <a:ext cx="9144" cy="5321808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1325880"/>
            <a:ext cx="9144" cy="5321808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7640" y="1673352"/>
            <a:ext cx="9144" cy="4974336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80120" y="1673352"/>
            <a:ext cx="9144" cy="4974336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5080" y="1673352"/>
            <a:ext cx="9144" cy="4974336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57560" y="1673352"/>
            <a:ext cx="9144" cy="4974336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1673352"/>
            <a:ext cx="11002975" cy="91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1965960"/>
            <a:ext cx="11002975" cy="91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1965960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200253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House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2002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80120" y="198424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957560" y="198424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4360" y="225856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2258568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29514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22951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80120" y="227685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957560" y="227685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94360" y="2551176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2551176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258775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72200" y="25877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80120" y="256946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957560" y="256946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94360" y="2843784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2843784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288036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level filtering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72200" y="28803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80120" y="286207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957560" y="286207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4360" y="3136392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3136392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317296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Hospital group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72200" y="3172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580120" y="315468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957560" y="315468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94360" y="3429000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" y="3429000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346557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facility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4655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580120" y="344728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0957560" y="344728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594360" y="372160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4360" y="3721608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375818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172200" y="37581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580120" y="373989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0957560" y="373989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594360" y="4014216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4014216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405079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status detail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172200" y="40507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580120" y="403250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0957560" y="403250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594360" y="4306824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" y="4306824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20" y="434340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level filtering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172200" y="4343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580120" y="432511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0957560" y="432511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594360" y="4599432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4360" y="4599432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463600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level sorting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172200" y="463600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8580120" y="461772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0957560" y="461772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594360" y="4892040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94360" y="4892040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1520" y="492861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filtering to assigned user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6172200" y="49286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8580120" y="491032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94" name="Text 92"/>
          <p:cNvSpPr/>
          <p:nvPr/>
        </p:nvSpPr>
        <p:spPr>
          <a:xfrm>
            <a:off x="10957560" y="491032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594360" y="518464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4360" y="5184648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1520" y="522122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(Prioritization)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6172200" y="52212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580120" y="520293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00" name="Text 98"/>
          <p:cNvSpPr/>
          <p:nvPr/>
        </p:nvSpPr>
        <p:spPr>
          <a:xfrm>
            <a:off x="10957560" y="520293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594360" y="5477256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4360" y="5477256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31520" y="551383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Configuration based on user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6172200" y="551383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580120" y="549554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10957560" y="549554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07" name="Shape 105"/>
          <p:cNvSpPr/>
          <p:nvPr/>
        </p:nvSpPr>
        <p:spPr>
          <a:xfrm>
            <a:off x="594360" y="5769864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94360" y="5769864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31520" y="580644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Self-Assignment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6172200" y="580644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580120" y="578815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12" name="Text 110"/>
          <p:cNvSpPr/>
          <p:nvPr/>
        </p:nvSpPr>
        <p:spPr>
          <a:xfrm>
            <a:off x="10957560" y="578815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13" name="Shape 111"/>
          <p:cNvSpPr/>
          <p:nvPr/>
        </p:nvSpPr>
        <p:spPr>
          <a:xfrm>
            <a:off x="594360" y="6062472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94360" y="6062472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31520" y="609904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Assignment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6172200" y="609904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8580120" y="608076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18" name="Text 116"/>
          <p:cNvSpPr/>
          <p:nvPr/>
        </p:nvSpPr>
        <p:spPr>
          <a:xfrm>
            <a:off x="10957560" y="608076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19" name="Shape 117"/>
          <p:cNvSpPr/>
          <p:nvPr/>
        </p:nvSpPr>
        <p:spPr>
          <a:xfrm>
            <a:off x="594360" y="6355080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94360" y="6355080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1520" y="639165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Referral Indicator (Visit)</a:t>
            </a:r>
            <a:endParaRPr lang="en-US" sz="1200" dirty="0"/>
          </a:p>
        </p:txBody>
      </p:sp>
      <p:sp>
        <p:nvSpPr>
          <p:cNvPr id="122" name="Text 120"/>
          <p:cNvSpPr/>
          <p:nvPr/>
        </p:nvSpPr>
        <p:spPr>
          <a:xfrm>
            <a:off x="6172200" y="639165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3" name="Text 121"/>
          <p:cNvSpPr/>
          <p:nvPr/>
        </p:nvSpPr>
        <p:spPr>
          <a:xfrm>
            <a:off x="8580120" y="637336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24" name="Text 122"/>
          <p:cNvSpPr/>
          <p:nvPr/>
        </p:nvSpPr>
        <p:spPr>
          <a:xfrm>
            <a:off x="10957560" y="637336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125" name="Shape 123"/>
          <p:cNvSpPr/>
          <p:nvPr/>
        </p:nvSpPr>
        <p:spPr>
          <a:xfrm>
            <a:off x="594360" y="664768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28" name="Text 12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Features – Intake Verification (Registration)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Features/functionality from Patient Portal High Estimate (Phase 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6400800" cy="640080"/>
          </a:xfrm>
          <a:prstGeom prst="rect">
            <a:avLst/>
          </a:prstGeom>
          <a:solidFill>
            <a:srgbClr val="E6F4EA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1325880"/>
            <a:ext cx="2377440" cy="347472"/>
          </a:xfrm>
          <a:prstGeom prst="rect">
            <a:avLst/>
          </a:prstGeom>
          <a:solidFill>
            <a:srgbClr val="003764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1325880"/>
            <a:ext cx="2377440" cy="347472"/>
          </a:xfrm>
          <a:prstGeom prst="rect">
            <a:avLst/>
          </a:prstGeom>
          <a:solidFill>
            <a:srgbClr val="003764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1673352"/>
            <a:ext cx="237744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2600" y="1673352"/>
            <a:ext cx="237744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1732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FUNCTIONALITY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4173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138988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72600" y="138988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7260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8764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6508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8012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5756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9144" cy="327355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325880"/>
            <a:ext cx="9144" cy="327355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1325880"/>
            <a:ext cx="9144" cy="327355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7640" y="1673352"/>
            <a:ext cx="9144" cy="2926080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80120" y="1673352"/>
            <a:ext cx="9144" cy="2926080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5080" y="1673352"/>
            <a:ext cx="9144" cy="2926080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57560" y="1673352"/>
            <a:ext cx="9144" cy="2926080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1673352"/>
            <a:ext cx="11002975" cy="91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1965960"/>
            <a:ext cx="11002975" cy="91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1965960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200253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Demographics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2002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80120" y="198424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165080" y="198424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4360" y="225856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2258568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29514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Info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22951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80120" y="227685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165080" y="227685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94360" y="2551176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2551176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258775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 info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72200" y="25877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80120" y="256946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165080" y="256946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94360" y="2843784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2843784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288036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Pre-Population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72200" y="28803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80120" y="286207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165080" y="286207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4360" y="3136392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3136392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317296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Verification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72200" y="3172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580120" y="315468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0165080" y="315468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94360" y="3429000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" y="3429000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346557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Prompting/Scripting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4655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580120" y="344728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10165080" y="344728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594360" y="372160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4360" y="3721608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375818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Input Fields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172200" y="37581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580120" y="373989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10165080" y="373989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594360" y="4014216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4014216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405079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Only Person ID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172200" y="40507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580120" y="403250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10165080" y="403250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594360" y="4306824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" y="4306824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31520" y="434340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formatting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172200" y="434340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8580120" y="432511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10165080" y="432511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594360" y="4599432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Features – Screening / Eligibility &amp; PACE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Features/functionality from Patient Portal High Estimate (Phase 1)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2980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25880"/>
            <a:ext cx="6400800" cy="640080"/>
          </a:xfrm>
          <a:prstGeom prst="rect">
            <a:avLst/>
          </a:prstGeom>
          <a:solidFill>
            <a:srgbClr val="E6F4EA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1325880"/>
            <a:ext cx="2377440" cy="347472"/>
          </a:xfrm>
          <a:prstGeom prst="rect">
            <a:avLst/>
          </a:prstGeom>
          <a:solidFill>
            <a:srgbClr val="003764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1325880"/>
            <a:ext cx="2377440" cy="347472"/>
          </a:xfrm>
          <a:prstGeom prst="rect">
            <a:avLst/>
          </a:prstGeom>
          <a:solidFill>
            <a:srgbClr val="003764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0" y="1673352"/>
            <a:ext cx="237744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72600" y="1673352"/>
            <a:ext cx="2377440" cy="292608"/>
          </a:xfrm>
          <a:prstGeom prst="rect">
            <a:avLst/>
          </a:prstGeom>
          <a:solidFill>
            <a:srgbClr val="FAF8F2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417320"/>
            <a:ext cx="5577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/ FUNCTIONALITY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4173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138988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72600" y="138988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7260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8764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16508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8012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57560" y="1719072"/>
            <a:ext cx="79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9144" cy="29809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5160" y="1325880"/>
            <a:ext cx="9144" cy="29809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72600" y="1325880"/>
            <a:ext cx="9144" cy="29809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7640" y="1673352"/>
            <a:ext cx="9144" cy="26334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80120" y="1673352"/>
            <a:ext cx="9144" cy="26334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65080" y="1673352"/>
            <a:ext cx="9144" cy="26334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57560" y="1673352"/>
            <a:ext cx="9144" cy="26334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1673352"/>
            <a:ext cx="11002975" cy="91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1965960"/>
            <a:ext cx="11002975" cy="9144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1965960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200253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Portion - Eligibility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2002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198424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372600" y="198424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94360" y="225856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2258568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29514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Dynamic Screening questions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229514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87640" y="227685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72600" y="227685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94360" y="2551176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2551176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258775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eligibility Determination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72200" y="258775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787640" y="256946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372600" y="256946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94360" y="2843784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2843784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2880360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Screening/Eligibility Summary Report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172200" y="28803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87640" y="286207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372600" y="2862072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4360" y="3136392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3136392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3172968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Recommended Programs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72200" y="317296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787640" y="315468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9372600" y="3154680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594360" y="3429000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4360" y="3429000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3465576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Available Override Programs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46557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87640" y="344728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9372600" y="3447288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594360" y="3721608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4360" y="3721608"/>
            <a:ext cx="11002975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3758184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Relationship Linkage(SC)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172200" y="375818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995160" y="373989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9372600" y="3739896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594360" y="4014216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4014216"/>
            <a:ext cx="11002975" cy="292608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4050792"/>
            <a:ext cx="5349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Integration (POE API)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172200" y="40507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787640" y="403250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9372600" y="4032504"/>
            <a:ext cx="79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69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594360" y="4306824"/>
            <a:ext cx="11002975" cy="4572"/>
          </a:xfrm>
          <a:prstGeom prst="rect">
            <a:avLst/>
          </a:prstGeom>
          <a:solidFill>
            <a:srgbClr val="C8D2DC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readiness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vs what remains to ship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1100297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00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0" y="1600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1063721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116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Work Queue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2011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2084832"/>
            <a:ext cx="2834640" cy="347472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0056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1214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578608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6517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2724912"/>
            <a:ext cx="2834640" cy="347472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0056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761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IN PROGRESS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3218688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291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/ Eligibility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3364992"/>
            <a:ext cx="2834640" cy="347472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401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3858768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931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Integration (POE API)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3931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06640" y="3931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03920" y="4005072"/>
            <a:ext cx="2834640" cy="347472"/>
          </a:xfrm>
          <a:prstGeom prst="roundRect">
            <a:avLst/>
          </a:prstGeom>
          <a:solidFill>
            <a:srgbClr val="FFF4CE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4498848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57784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prioritize Eligibility QA + POE API validation; run end-to-end regression across Work Queue → Intake → Eligibility.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dependencies, and mitigations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17320"/>
            <a:ext cx="527288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272888" cy="109728"/>
          </a:xfrm>
          <a:prstGeom prst="rect">
            <a:avLst/>
          </a:prstGeom>
          <a:solidFill>
            <a:srgbClr val="FF612B"/>
          </a:solidFill>
          <a:ln w="12700">
            <a:solidFill>
              <a:srgbClr val="FF61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27632"/>
            <a:ext cx="472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632808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QA has not started; could compress the overall timeline.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Integration (POE API) shows low completion; may gate release readiness.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regression bandwidth across modules and edge cases.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4448" y="1417320"/>
            <a:ext cx="527288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417320"/>
            <a:ext cx="5272888" cy="109728"/>
          </a:xfrm>
          <a:prstGeom prst="rect">
            <a:avLst/>
          </a:prstGeom>
          <a:solidFill>
            <a:srgbClr val="005696"/>
          </a:solidFill>
          <a:ln w="12700">
            <a:solidFill>
              <a:srgbClr val="0056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98768" y="1627632"/>
            <a:ext cx="4724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(near-term)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44488" y="2057400"/>
            <a:ext cx="4632808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QA as soon as Eligibility build is stable; daily defect triage.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POE API requirements + test data early; escalate blockers fast.</a:t>
            </a:r>
            <a:endParaRPr lang="en-US" sz="12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an end-to-end rehearsal including auth and reporting.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View – UI Screenshot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6" name="Image 0" descr="/mnt/data/hcr_screens/s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2475" y="1005840"/>
            <a:ext cx="6927050" cy="5063490"/>
          </a:xfrm>
          <a:prstGeom prst="rect">
            <a:avLst/>
          </a:prstGeom>
        </p:spPr>
      </p:pic>
      <p:pic>
        <p:nvPicPr>
          <p:cNvPr id="7" name="Image 1" descr="/mnt/data/hcr_screens/hcr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View – UI Screenshot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6" name="Image 0" descr="/mnt/data/hcr_screens/s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351" y="1005840"/>
            <a:ext cx="7893298" cy="5063490"/>
          </a:xfrm>
          <a:prstGeom prst="rect">
            <a:avLst/>
          </a:prstGeom>
        </p:spPr>
      </p:pic>
      <p:pic>
        <p:nvPicPr>
          <p:cNvPr id="7" name="Image 1" descr="/mnt/data/hcr_screens/hcr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View – UI Screenshot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6" name="Image 0" descr="/mnt/data/hcr_screens/s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1767" y="1005840"/>
            <a:ext cx="6808465" cy="5063490"/>
          </a:xfrm>
          <a:prstGeom prst="rect">
            <a:avLst/>
          </a:prstGeom>
        </p:spPr>
      </p:pic>
      <p:pic>
        <p:nvPicPr>
          <p:cNvPr id="7" name="Image 1" descr="/mnt/data/hcr_screens/hcr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View – UI Screenshot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6" name="Image 0" descr="/mnt/data/hcr_screens/s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737" y="1005840"/>
            <a:ext cx="6654526" cy="5063490"/>
          </a:xfrm>
          <a:prstGeom prst="rect">
            <a:avLst/>
          </a:prstGeom>
        </p:spPr>
      </p:pic>
      <p:pic>
        <p:nvPicPr>
          <p:cNvPr id="7" name="Image 1" descr="/mnt/data/hcr_screens/hcr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HCR View – UI Screenshot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11002975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pic>
        <p:nvPicPr>
          <p:cNvPr id="6" name="Image 0" descr="/mnt/data/hcr_screens/s1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4581" y="1005840"/>
            <a:ext cx="6822838" cy="5063490"/>
          </a:xfrm>
          <a:prstGeom prst="rect">
            <a:avLst/>
          </a:prstGeom>
        </p:spPr>
      </p:pic>
      <p:pic>
        <p:nvPicPr>
          <p:cNvPr id="7" name="Image 1" descr="/mnt/data/hcr_screens/hcr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61" y="6343650"/>
            <a:ext cx="773055" cy="22383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completion (Dev / QA)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1002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11002975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area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5236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640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063721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03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Queue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464040" y="2103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606040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Verification (Registration)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46404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200400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91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Screening (dynamic + determination)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64040" y="3291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3794760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862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Integration (POE API)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464040" y="38862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" y="4389120"/>
            <a:ext cx="10637215" cy="0"/>
          </a:xfrm>
          <a:prstGeom prst="line">
            <a:avLst/>
          </a:prstGeom>
          <a:noFill/>
          <a:ln w="12700">
            <a:solidFill>
              <a:srgbClr val="EEF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76072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Eligibility screenshots are included in the landscape appendix as provided.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Phase 1 timeline (draft)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08760"/>
            <a:ext cx="11002975" cy="438912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7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(placeholders)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wrap-up: finalize Screening/Eligibility + POE API integration work</a:t>
            </a:r>
            <a:endParaRPr lang="en-US" sz="1300" dirty="0"/>
          </a:p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execution: Intake + Eligibility (start ASAP once build is stable)</a:t>
            </a:r>
            <a:endParaRPr lang="en-US" sz="1300" dirty="0"/>
          </a:p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regression and UAT sign-off</a:t>
            </a:r>
            <a:endParaRPr lang="en-US" sz="1300" dirty="0"/>
          </a:p>
          <a:p>
            <a:pPr marL="215900" indent="-215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readiness checks + deployment plan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557784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dates once sprint planning is finalized.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100297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3796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 • HCR View (MVP Phase 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5379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HCR View MVP Phase 1 Readout (HCR branded + Features)</dc:title>
  <dc:subject>PptxGenJS Presentation</dc:subject>
  <dc:creator>OpenAI ChatGPT</dc:creator>
  <cp:lastModifiedBy>OpenAI ChatGPT</cp:lastModifiedBy>
  <cp:revision>1</cp:revision>
  <dcterms:created xsi:type="dcterms:W3CDTF">2026-02-20T18:07:56Z</dcterms:created>
  <dcterms:modified xsi:type="dcterms:W3CDTF">2026-02-20T18:07:56Z</dcterms:modified>
</cp:coreProperties>
</file>